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Constraint-Aware Fitness Planner: Multi-Agent Planning System</a:t>
            </a:r>
            <a:endParaRPr lang="en-US" sz="2400" dirty="0">
              <a:solidFill>
                <a:srgbClr val="A6192E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41832"/>
            <a:ext cx="105156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non-clinical planning workflow for diet + workout support under real-world constraints.</a:t>
            </a:r>
            <a:endParaRPr lang="en-US" sz="1200" dirty="0">
              <a:solidFill>
                <a:srgbClr val="5B67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892040" cy="3886200"/>
          </a:xfrm>
          <a:prstGeom prst="roundRect">
            <a:avLst>
              <a:gd name="adj" fmla="val 824"/>
            </a:avLst>
          </a:prstGeom>
          <a:solidFill>
            <a:srgbClr val="F3F4F6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73352"/>
            <a:ext cx="310896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/ Project Goal</a:t>
            </a:r>
            <a:endParaRPr lang="en-US" sz="16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4160520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constraint-aware fitness planning system focused on diet + workout planning under real-world constraints.</a:t>
            </a:r>
            <a:endParaRPr lang="en-US" sz="16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3039872"/>
            <a:ext cx="109728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06424" y="3039872"/>
            <a:ext cx="3968496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conditions / symptom triggers such as urticaria</a:t>
            </a:r>
            <a:endParaRPr lang="en-US" sz="106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3314192"/>
            <a:ext cx="109728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06424" y="3314192"/>
            <a:ext cx="3968496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restrictions, schedule limits, budget limits</a:t>
            </a:r>
            <a:endParaRPr lang="en-US" sz="106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3588512"/>
            <a:ext cx="109728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06424" y="3588512"/>
            <a:ext cx="3968496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challenges and post-acceptance replanning</a:t>
            </a:r>
            <a:endParaRPr lang="en-US" sz="106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4305300"/>
            <a:ext cx="4251960" cy="566928"/>
          </a:xfrm>
          <a:prstGeom prst="roundRect">
            <a:avLst>
              <a:gd name="adj" fmla="val 5645"/>
            </a:avLst>
          </a:prstGeom>
          <a:solidFill>
            <a:srgbClr val="DDEBF7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384040"/>
            <a:ext cx="658368" cy="731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1060" b="1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55648" y="4365752"/>
            <a:ext cx="2999232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feasibility, safety, and sustainability before planning.</a:t>
            </a:r>
            <a:endParaRPr lang="en-US" sz="108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5120640" cy="3886200"/>
          </a:xfrm>
          <a:prstGeom prst="roundRect">
            <a:avLst>
              <a:gd name="adj" fmla="val 824"/>
            </a:avLst>
          </a:prstGeom>
          <a:solidFill>
            <a:srgbClr val="F3F4F6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73352"/>
            <a:ext cx="18288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</a:t>
            </a:r>
            <a:endParaRPr lang="en-US" sz="16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2148840"/>
            <a:ext cx="1828800" cy="658368"/>
          </a:xfrm>
          <a:prstGeom prst="roundRect">
            <a:avLst>
              <a:gd name="adj" fmla="val 4861"/>
            </a:avLst>
          </a:prstGeom>
          <a:solidFill>
            <a:srgbClr val="F4CCC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395728"/>
            <a:ext cx="146304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4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06840" y="2148840"/>
            <a:ext cx="1828800" cy="658368"/>
          </a:xfrm>
          <a:prstGeom prst="roundRect">
            <a:avLst>
              <a:gd name="adj" fmla="val 4861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395728"/>
            <a:ext cx="1463040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Roles</a:t>
            </a:r>
            <a:endParaRPr lang="en-US" sz="14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3246120"/>
            <a:ext cx="109728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70AD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47104" y="3246120"/>
            <a:ext cx="4242816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!= constraint checking != planning != review</a:t>
            </a:r>
            <a:endParaRPr lang="en-US" sz="106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109728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70AD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47104" y="3520440"/>
            <a:ext cx="4242816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decides when to clarify, stop, revise, adapt</a:t>
            </a:r>
            <a:endParaRPr lang="en-US" sz="106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109728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b="1" dirty="0">
              <a:solidFill>
                <a:srgbClr val="70AD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47104" y="3794760"/>
            <a:ext cx="4242816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traces support process-based evaluation</a:t>
            </a:r>
            <a:endParaRPr lang="en-US" sz="106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" y="5806440"/>
            <a:ext cx="10607040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evidence: 14/14 latest-version passes · 7/7 stability reruns · saved traces + failure log</a:t>
            </a:r>
            <a:endParaRPr lang="en-US" sz="12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 and Workflow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225" y="941705"/>
            <a:ext cx="10988675" cy="3479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altLang="zh-CN" sz="1400" dirty="0"/>
              <a:t>Agents coordinate through structured artifacts and state transitions. The human-in-the-loop provides missing information, preference signals, and real-world feedback, which the system uses to guide safe, constraint-aware planning and adaptation.</a:t>
            </a:r>
            <a:endParaRPr lang="en-US" altLang="zh-CN" sz="1400" dirty="0"/>
          </a:p>
        </p:txBody>
      </p:sp>
      <p:pic>
        <p:nvPicPr>
          <p:cNvPr id="5" name="Image 0" descr="/Users/jiangshiwei/Desktop/CMU 2026 Spring/95864 A4 Agentic Technologies/95864 A4 Assignments/95846 A4 Agentic studio Project/tmp/presentations/agentic-slides/output/beautified_mermaid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585" y="1543685"/>
            <a:ext cx="8686800" cy="5314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A619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Insights / What I Learned</a:t>
            </a:r>
            <a:endParaRPr lang="en-US" sz="2800" dirty="0">
              <a:solidFill>
                <a:srgbClr val="A6192E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1155680" cy="0"/>
          </a:xfrm>
          <a:prstGeom prst="line">
            <a:avLst/>
          </a:prstGeom>
          <a:noFill/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41832"/>
            <a:ext cx="105156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value came from coordination logic, not from simply using more prompts.</a:t>
            </a:r>
            <a:endParaRPr lang="en-US" sz="1200" dirty="0">
              <a:solidFill>
                <a:srgbClr val="5B67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607185"/>
            <a:ext cx="4969510" cy="1274445"/>
          </a:xfrm>
          <a:prstGeom prst="roundRect">
            <a:avLst>
              <a:gd name="adj" fmla="val 3378"/>
            </a:avLst>
          </a:prstGeom>
          <a:solidFill>
            <a:srgbClr val="DDEBF7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8480"/>
            <a:ext cx="346075" cy="17145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b="1" dirty="0">
              <a:solidFill>
                <a:srgbClr val="4472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44625" y="1735455"/>
            <a:ext cx="1689100" cy="46799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!= multiple prompts</a:t>
            </a:r>
            <a:endParaRPr lang="en-US" sz="16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560" y="1725930"/>
            <a:ext cx="2051685" cy="48133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explicit roles, handoffs, and decision authority</a:t>
            </a:r>
            <a:endParaRPr lang="en-US" sz="140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607185"/>
            <a:ext cx="4969510" cy="1274445"/>
          </a:xfrm>
          <a:prstGeom prst="roundRect">
            <a:avLst>
              <a:gd name="adj" fmla="val 3378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08480"/>
            <a:ext cx="346075" cy="17145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b="1" dirty="0">
              <a:solidFill>
                <a:srgbClr val="70AD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13905" y="1735455"/>
            <a:ext cx="1677670" cy="5054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is critical</a:t>
            </a:r>
            <a:endParaRPr lang="en-US" sz="16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06840" y="1725930"/>
            <a:ext cx="2051685" cy="48133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clarification loops, safe stopping, and adaptation</a:t>
            </a:r>
            <a:endParaRPr lang="en-US" sz="140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677160"/>
            <a:ext cx="4969510" cy="1274445"/>
          </a:xfrm>
          <a:prstGeom prst="roundRect">
            <a:avLst>
              <a:gd name="adj" fmla="val 3378"/>
            </a:avLst>
          </a:prstGeom>
          <a:solidFill>
            <a:srgbClr val="FFF2CC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78455"/>
            <a:ext cx="346075" cy="17145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b="1" dirty="0">
              <a:solidFill>
                <a:srgbClr val="ED7D3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44625" y="2804795"/>
            <a:ext cx="1689100" cy="46799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the core difficulty</a:t>
            </a:r>
            <a:endParaRPr lang="en-US" sz="16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2677160"/>
            <a:ext cx="4969510" cy="1274445"/>
          </a:xfrm>
          <a:prstGeom prst="roundRect">
            <a:avLst>
              <a:gd name="adj" fmla="val 3378"/>
            </a:avLst>
          </a:prstGeom>
          <a:solidFill>
            <a:srgbClr val="F4CCC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78455"/>
            <a:ext cx="346075" cy="17145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b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13905" y="2804795"/>
            <a:ext cx="1677670" cy="50546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is necessary</a:t>
            </a:r>
            <a:endParaRPr lang="en-US" sz="16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006840" y="2795905"/>
            <a:ext cx="2051685" cy="48133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not guess preferences or resolve tradeoffs automatically</a:t>
            </a:r>
            <a:endParaRPr lang="en-US" sz="140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3747135"/>
            <a:ext cx="4969510" cy="1274445"/>
          </a:xfrm>
          <a:prstGeom prst="roundRect">
            <a:avLst>
              <a:gd name="adj" fmla="val 3378"/>
            </a:avLst>
          </a:prstGeom>
          <a:solidFill>
            <a:srgbClr val="EADCF8"/>
          </a:solidFill>
          <a:ln w="12700">
            <a:solidFill>
              <a:srgbClr val="95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47795"/>
            <a:ext cx="346075" cy="17145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5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b="1" dirty="0">
              <a:solidFill>
                <a:srgbClr val="954F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44625" y="3874770"/>
            <a:ext cx="1689100" cy="46799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must be process-based</a:t>
            </a:r>
            <a:endParaRPr lang="en-US" sz="1600" b="1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337560" y="2795905"/>
            <a:ext cx="2051685" cy="1551305"/>
            <a:chOff x="5256" y="4104"/>
            <a:chExt cx="3231" cy="2443"/>
          </a:xfrm>
        </p:grpSpPr>
        <p:sp>
          <p:nvSpPr>
            <p:cNvPr id="16" name="Text 14"/>
            <p:cNvSpPr/>
            <p:nvPr/>
          </p:nvSpPr>
          <p:spPr>
            <a:xfrm>
              <a:off x="5256" y="4104"/>
              <a:ext cx="3231" cy="1395"/>
            </a:xfrm>
            <a:prstGeom prst="rect">
              <a:avLst/>
            </a:prstGeom>
            <a:noFill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F1F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vague inputs, conflicting goals, and unrealistic plans must be checked before planning</a:t>
              </a:r>
              <a:endPara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5256" y="5789"/>
              <a:ext cx="3231" cy="758"/>
            </a:xfrm>
            <a:prstGeom prst="rect">
              <a:avLst/>
            </a:prstGeom>
            <a:noFill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F1F1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did it clarify, detect conflict, respect safety, and preserve state?</a:t>
              </a:r>
              <a:endPara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25" name="Shape 23"/>
          <p:cNvSpPr/>
          <p:nvPr/>
        </p:nvSpPr>
        <p:spPr>
          <a:xfrm>
            <a:off x="6400800" y="3747135"/>
            <a:ext cx="4969510" cy="1274445"/>
          </a:xfrm>
          <a:prstGeom prst="roundRect">
            <a:avLst>
              <a:gd name="adj" fmla="val 4730"/>
            </a:avLst>
          </a:prstGeom>
          <a:solidFill>
            <a:srgbClr val="F3F4F6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290" y="3938905"/>
            <a:ext cx="2367915" cy="27495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evidence lens</a:t>
            </a:r>
            <a:endParaRPr lang="en-US" sz="1400" b="1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7525" y="4342765"/>
            <a:ext cx="4036060" cy="467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correctness + trace evidence + failure analysis, </a:t>
            </a:r>
            <a:endParaRPr lang="en-US" sz="120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output quality</a:t>
            </a:r>
            <a:endParaRPr lang="en-US" sz="1200" dirty="0">
              <a:solidFill>
                <a:srgbClr val="1F1F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645920" y="5608955"/>
            <a:ext cx="8844915" cy="743585"/>
          </a:xfrm>
          <a:prstGeom prst="roundRect">
            <a:avLst>
              <a:gd name="adj" fmla="val 5833"/>
            </a:avLst>
          </a:prstGeom>
          <a:solidFill>
            <a:srgbClr val="F3F4F6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5773420"/>
            <a:ext cx="8297545" cy="45021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Process-based evidence from the final artifact: </a:t>
            </a:r>
            <a:endParaRPr lang="en-US" sz="1000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correctness · safety boundary behavior · human handoff visibility · state preservation · exported traces</a:t>
            </a:r>
            <a:endParaRPr lang="en-US" sz="1000" dirty="0">
              <a:solidFill>
                <a:srgbClr val="A619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1960</Words>
  <Application>WPS 文字</Application>
  <PresentationFormat>On-screen Show (16:9)</PresentationFormat>
  <Paragraphs>90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Arial</vt:lpstr>
      <vt:lpstr>宋体</vt:lpstr>
      <vt:lpstr>Wingdings</vt:lpstr>
      <vt:lpstr>Calibri Light</vt:lpstr>
      <vt:lpstr>Helvetica Neue</vt:lpstr>
      <vt:lpstr>Calibri Light</vt:lpstr>
      <vt:lpstr>Calibri Light</vt:lpstr>
      <vt:lpstr>Calibri</vt:lpstr>
      <vt:lpstr>Calibri</vt:lpstr>
      <vt:lpstr>Calibri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Constraint-Aware Fitness Planner</dc:title>
  <dc:creator>Shiwei Jiang</dc:creator>
  <dc:subject>Constraint-Aware Fitness Planner</dc:subject>
  <cp:lastModifiedBy>ヾ 凉辰梦瑾๑空人心づ</cp:lastModifiedBy>
  <cp:revision>17</cp:revision>
  <dcterms:created xsi:type="dcterms:W3CDTF">2026-04-24T23:31:31Z</dcterms:created>
  <dcterms:modified xsi:type="dcterms:W3CDTF">2026-04-24T23:31:31Z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951898F0401BDCE2BED5EA6981A619B1_42</vt:lpwstr>
  </property>
  <property fmtid="{D5CDD505-2E9C-101B-9397-08002B2CF9AE}" pid="3" name="KSOProductBuildVer">
    <vt:lpwstr>2052-12.1.25205.25205</vt:lpwstr>
  </property>
</Properties>
</file>